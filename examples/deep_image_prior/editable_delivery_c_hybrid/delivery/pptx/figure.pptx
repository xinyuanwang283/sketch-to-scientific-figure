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bcb8e54234d32" /><Relationship Type="http://schemas.openxmlformats.org/officeDocument/2006/relationships/extended-properties" Target="/docProps/app.xml" Id="Rbcdf6c8aa45948b8" /><Relationship Type="http://schemas.openxmlformats.org/officeDocument/2006/relationships/officeDocument" Target="/ppt/presentation.xml" Id="R15c7f1903a0d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fd52facb64bf1"/>
  </p:sldMasterIdLst>
  <p:notesMasterIdLst>
    <p:notesMasterId xmlns:r="http://schemas.openxmlformats.org/officeDocument/2006/relationships" r:id="Rc18e38c6d35341c3"/>
  </p:notesMasterIdLst>
  <p:sldIdLst>
    <p:sldId xmlns:r="http://schemas.openxmlformats.org/officeDocument/2006/relationships" id="256" r:id="R5c6257b063d745bd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35fe28e65f4f6c" /><Relationship Type="http://schemas.openxmlformats.org/officeDocument/2006/relationships/slideMaster" Target="/ppt/slideMasters/slideMaster1.xml" Id="R02ffd52facb64bf1" /><Relationship Type="http://schemas.openxmlformats.org/officeDocument/2006/relationships/notesMaster" Target="/ppt/notesMasters/notesMaster1.xml" Id="Rc18e38c6d35341c3" /><Relationship Type="http://schemas.openxmlformats.org/officeDocument/2006/relationships/presProps" Target="/ppt/presProps.xml" Id="Rc3b844c6b7e644ef" /><Relationship Type="http://schemas.openxmlformats.org/officeDocument/2006/relationships/tableStyles" Target="/ppt/tableStyles.xml" Id="Rc5ffc26becff45e7" /><Relationship Type="http://schemas.openxmlformats.org/officeDocument/2006/relationships/slide" Target="/ppt/slides/slide1.xml" Id="R5c6257b063d7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76892f26c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1294" dir="4091915">
              <a:srgbClr val="3F2C60">
                <a:alpha val="10000"/>
              </a:srgbClr>
            </a:outerShdw>
          </a:effectLst>
        </a:effectStyle>
        <a:effectStyle>
          <a:effectLst>
            <a:outerShdw blurRad="95250" dist="42597" dir="3806097">
              <a:srgbClr val="7B4A00">
                <a:alpha val="10000"/>
              </a:srgbClr>
            </a:outerShdw>
          </a:effectLst>
        </a:effectStyle>
        <a:effectStyle>
          <a:effectLst>
            <a:outerShdw blurRad="85725" dist="42597" dir="3806097">
              <a:srgbClr val="312E5B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a28e57d84c4604" /><Relationship Type="http://schemas.openxmlformats.org/officeDocument/2006/relationships/notesMaster" Target="/ppt/notesMasters/notesMaster1.xml" Id="R5247dbaebb7b40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 high-fidelity hybrid editable figure.</a:t>
            </a:r>
          </a:p>
          <a:p xmlns:a="http://schemas.openxmlformats.org/drawingml/2006/main">
            <a:r>
              <a:t>Canonical source: source/hybrid_figure.json</a:t>
            </a:r>
          </a:p>
          <a:p xmlns:a="http://schemas.openxmlformats.org/drawingml/2006/main">
            <a:r>
              <a:t>Raster modules are deliberately bounded, cropped, and replaceable:</a:t>
            </a:r>
          </a:p>
          <a:p xmlns:a="http://schemas.openxmlformats.org/drawingml/2006/main">
            <a:r>
              <a:t>- noise-raster-atom: assets/noise.png</a:t>
            </a:r>
          </a:p>
          <a:p xmlns:a="http://schemas.openxmlformats.org/drawingml/2006/main">
            <a:r>
              <a:t>- reconstruction-raster-atom: assets/reconstruction.png</a:t>
            </a:r>
          </a:p>
          <a:p xmlns:a="http://schemas.openxmlformats.org/drawingml/2006/main">
            <a:r>
              <a:t>Authoritative equations (embedded SVG with retained LaTeX):</a:t>
            </a:r>
          </a:p>
          <a:p xmlns:a="http://schemas.openxmlformats.org/drawingml/2006/main">
            <a:r>
              <a:t>- eq_z: z</a:t>
            </a:r>
          </a:p>
          <a:p xmlns:a="http://schemas.openxmlformats.org/drawingml/2006/main">
            <a:r>
              <a:t>- eq_generator: G_{\theta}</a:t>
            </a:r>
          </a:p>
          <a:p xmlns:a="http://schemas.openxmlformats.org/drawingml/2006/main">
            <a:r>
              <a:t>- eq_xhat: \hat{x}</a:t>
            </a:r>
          </a:p>
          <a:p xmlns:a="http://schemas.openxmlformats.org/drawingml/2006/main">
            <a:r>
              <a:t>- eq_operator: A</a:t>
            </a:r>
          </a:p>
          <a:p xmlns:a="http://schemas.openxmlformats.org/drawingml/2006/main">
            <a:r>
              <a:t>- eq_yhat: \hat{y}</a:t>
            </a:r>
          </a:p>
          <a:p xmlns:a="http://schemas.openxmlformats.org/drawingml/2006/main">
            <a:r>
              <a:t>- eq_y: y</a:t>
            </a:r>
          </a:p>
          <a:p xmlns:a="http://schemas.openxmlformats.org/drawingml/2006/main">
            <a:r>
              <a:t>- eq_loss: \lVert\hat{y}-y\rVert_{2}^{2}</a:t>
            </a:r>
          </a:p>
          <a:p xmlns:a="http://schemas.openxmlformats.org/drawingml/2006/main">
            <a:r>
              <a:t>- eq_objective: \theta^{\ast}=\operatorname*{arg\,min}_{\theta}\left\lVert A G_{\theta}(z)-y\right\rVert_{2}^{2}</a:t>
            </a:r>
          </a:p>
          <a:p xmlns:a="http://schemas.openxmlformats.org/drawingml/2006/main">
            <a:r>
              <a:t>- eq_reconstruction: \hat{x}=G_{\theta^{\ast}}(z)</a:t>
            </a:r>
          </a:p>
          <a:p xmlns:a="http://schemas.openxmlformats.org/drawingml/2006/main">
            <a:r>
              <a:t>No full-canvas raster is present; frames, network, plots, labels, connectors, and arrowheads are native objects.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assets/noise.png — local publication-safe figure module.</a:t>
            </a:r>
          </a:p>
          <a:p xmlns:a="http://schemas.openxmlformats.org/drawingml/2006/main">
            <a:r>
              <a:t>- assets/reconstruction.png — local publication-safe figure module.</a:t>
            </a:r>
          </a:p>
          <a:p xmlns:a="http://schemas.openxmlformats.org/drawingml/2006/main">
            <a:r>
              <a:t>- equations/eq_z.svg — locally rendered vector equation.</a:t>
            </a:r>
          </a:p>
          <a:p xmlns:a="http://schemas.openxmlformats.org/drawingml/2006/main">
            <a:r>
              <a:t>- equations/eq_generator.svg — locally rendered vector equation.</a:t>
            </a:r>
          </a:p>
          <a:p xmlns:a="http://schemas.openxmlformats.org/drawingml/2006/main">
            <a:r>
              <a:t>- equations/eq_xhat.svg — locally rendered vector equation.</a:t>
            </a:r>
          </a:p>
          <a:p xmlns:a="http://schemas.openxmlformats.org/drawingml/2006/main">
            <a:r>
              <a:t>- equations/eq_operator.svg — locally rendered vector equation.</a:t>
            </a:r>
          </a:p>
          <a:p xmlns:a="http://schemas.openxmlformats.org/drawingml/2006/main">
            <a:r>
              <a:t>- equations/eq_yhat.svg — locally rendered vector equation.</a:t>
            </a:r>
          </a:p>
          <a:p xmlns:a="http://schemas.openxmlformats.org/drawingml/2006/main">
            <a:r>
              <a:t>- equations/eq_y.svg — locally rendered vector equation.</a:t>
            </a:r>
          </a:p>
          <a:p xmlns:a="http://schemas.openxmlformats.org/drawingml/2006/main">
            <a:r>
              <a:t>- equations/eq_loss.svg — locally rendered vector equation.</a:t>
            </a:r>
          </a:p>
          <a:p xmlns:a="http://schemas.openxmlformats.org/drawingml/2006/main">
            <a:r>
              <a:t>- equations/eq_objective.svg — locally rendered vector equation.</a:t>
            </a:r>
          </a:p>
          <a:p xmlns:a="http://schemas.openxmlformats.org/drawingml/2006/main">
            <a:r>
              <a:t>- equations/eq_reconstruction.svg — locally rendered vector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40da8ad634e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682c6c5594dfa" /><Relationship Type="http://schemas.openxmlformats.org/officeDocument/2006/relationships/slideLayout" Target="/ppt/slideLayouts/slideLayout1.xml" Id="Rbdd8c2c29e0c40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8c2c29e0c40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1294" dir="4091915">
              <a:srgbClr val="3F2C60">
                <a:alpha val="10000"/>
              </a:srgbClr>
            </a:outerShdw>
          </a:effectLst>
        </a:effectStyle>
        <a:effectStyle>
          <a:effectLst>
            <a:outerShdw blurRad="95250" dist="42597" dir="3806097">
              <a:srgbClr val="7B4A00">
                <a:alpha val="10000"/>
              </a:srgbClr>
            </a:outerShdw>
          </a:effectLst>
        </a:effectStyle>
        <a:effectStyle>
          <a:effectLst>
            <a:outerShdw blurRad="85725" dist="42597" dir="3806097">
              <a:srgbClr val="312E5B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52d1cabf24d1c" /><Relationship Type="http://schemas.openxmlformats.org/officeDocument/2006/relationships/image" Target="/ppt/media/image.png" Id="Rfe2642f120a44a2b" /><Relationship Type="http://schemas.openxmlformats.org/officeDocument/2006/relationships/image" Target="/ppt/media/image2.png" Id="R81008ca480ca44b3" /><Relationship Type="http://schemas.openxmlformats.org/officeDocument/2006/relationships/image" Target="/ppt/media/image3.png" Id="R1298f3c4ab3a4f33" /><Relationship Type="http://schemas.openxmlformats.org/officeDocument/2006/relationships/image" Target="/ppt/media/image.svg" Id="Raaec13d725b648ca" /><Relationship Type="http://schemas.openxmlformats.org/officeDocument/2006/relationships/image" Target="/ppt/media/image4.png" Id="Rf297ef267fe14ac5" /><Relationship Type="http://schemas.openxmlformats.org/officeDocument/2006/relationships/image" Target="/ppt/media/image2.svg" Id="Rc50a0a5d7ff14e1f" /><Relationship Type="http://schemas.openxmlformats.org/officeDocument/2006/relationships/image" Target="/ppt/media/image5.png" Id="R38799e031e674639" /><Relationship Type="http://schemas.openxmlformats.org/officeDocument/2006/relationships/image" Target="/ppt/media/image3.svg" Id="R102677d469c9401b" /><Relationship Type="http://schemas.openxmlformats.org/officeDocument/2006/relationships/image" Target="/ppt/media/image6.png" Id="R0f4c8162ebc744b4" /><Relationship Type="http://schemas.openxmlformats.org/officeDocument/2006/relationships/image" Target="/ppt/media/image4.svg" Id="R7deb757c155e4026" /><Relationship Type="http://schemas.openxmlformats.org/officeDocument/2006/relationships/image" Target="/ppt/media/image7.png" Id="R9a84de66e0ad48de" /><Relationship Type="http://schemas.openxmlformats.org/officeDocument/2006/relationships/image" Target="/ppt/media/image5.svg" Id="R97108e226c4f4ef7" /><Relationship Type="http://schemas.openxmlformats.org/officeDocument/2006/relationships/image" Target="/ppt/media/image8.png" Id="Rc9938872d3b24334" /><Relationship Type="http://schemas.openxmlformats.org/officeDocument/2006/relationships/image" Target="/ppt/media/image6.svg" Id="R45334259c4ee4db9" /><Relationship Type="http://schemas.openxmlformats.org/officeDocument/2006/relationships/image" Target="/ppt/media/image9.png" Id="Rb62fbfeb28fe4c5f" /><Relationship Type="http://schemas.openxmlformats.org/officeDocument/2006/relationships/image" Target="/ppt/media/image7.svg" Id="R8d9f5468013549a7" /><Relationship Type="http://schemas.openxmlformats.org/officeDocument/2006/relationships/image" Target="/ppt/media/image10.png" Id="Ra7c3c1880be64eb6" /><Relationship Type="http://schemas.openxmlformats.org/officeDocument/2006/relationships/image" Target="/ppt/media/image8.svg" Id="R23bf3a4da57c4d24" /><Relationship Type="http://schemas.openxmlformats.org/officeDocument/2006/relationships/image" Target="/ppt/media/image11.png" Id="R3d677868109646b1" /><Relationship Type="http://schemas.openxmlformats.org/officeDocument/2006/relationships/image" Target="/ppt/media/image9.svg" Id="R2ad064d067594f2b" /><Relationship Type="http://schemas.openxmlformats.org/officeDocument/2006/relationships/notesSlide" Target="/ppt/notesSlides/notesSlide1.xml" Id="R5eaae8cba11f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flow-z-generator">
            <a:extLst xmlns:a="http://schemas.openxmlformats.org/drawingml/2006/main">
              <a:ext uri="{FF2B5EF4-FFF2-40B4-BE49-F238E27FC236}">
                <a16:creationId xmlns:a16="http://schemas.microsoft.com/office/drawing/2014/main" id="{6274626C-6F19-46FB-99A5-14C35BF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857250" cy="9525"/>
          </a:xfrm>
          <a:custGeom xmlns:a="http://schemas.openxmlformats.org/drawingml/2006/main"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2" name="flow-z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E45B286F-E0A5-4344-9D0C-0FE4A48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206" y="3070186"/>
            <a:ext cx="133744" cy="146129"/>
          </a:xfrm>
          <a:custGeom xmlns:a="http://schemas.openxmlformats.org/drawingml/2006/main">
            <a:pathLst>
              <a:path w="133744" h="146129">
                <a:moveTo>
                  <a:pt x="133744" y="73064"/>
                </a:moveTo>
                <a:lnTo>
                  <a:pt x="0" y="146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3" name="flow-generator-reconstruction">
            <a:extLst xmlns:a="http://schemas.openxmlformats.org/drawingml/2006/main">
              <a:ext uri="{FF2B5EF4-FFF2-40B4-BE49-F238E27FC236}">
                <a16:creationId xmlns:a16="http://schemas.microsoft.com/office/drawing/2014/main" id="{FF89897E-8831-41A1-96A5-5ABDC6D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4" name="flow-generator-reconstruction-arrowhead">
            <a:extLst xmlns:a="http://schemas.openxmlformats.org/drawingml/2006/main">
              <a:ext uri="{FF2B5EF4-FFF2-40B4-BE49-F238E27FC236}">
                <a16:creationId xmlns:a16="http://schemas.microsoft.com/office/drawing/2014/main" id="{CAFFCF10-A151-4320-803E-F0F2636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281" y="3070186"/>
            <a:ext cx="133744" cy="146129"/>
          </a:xfrm>
          <a:custGeom xmlns:a="http://schemas.openxmlformats.org/drawingml/2006/main">
            <a:pathLst>
              <a:path w="133744" h="146129">
                <a:moveTo>
                  <a:pt x="133744" y="73064"/>
                </a:moveTo>
                <a:lnTo>
                  <a:pt x="0" y="146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5" name="flow-reconstruction-operator">
            <a:extLst xmlns:a="http://schemas.openxmlformats.org/drawingml/2006/main">
              <a:ext uri="{FF2B5EF4-FFF2-40B4-BE49-F238E27FC236}">
                <a16:creationId xmlns:a16="http://schemas.microsoft.com/office/drawing/2014/main" id="{D4CC5FE3-12F1-49DA-A751-73F9E8D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6" name="flow-reconstruction-operator-arrowhead">
            <a:extLst xmlns:a="http://schemas.openxmlformats.org/drawingml/2006/main">
              <a:ext uri="{FF2B5EF4-FFF2-40B4-BE49-F238E27FC236}">
                <a16:creationId xmlns:a16="http://schemas.microsoft.com/office/drawing/2014/main" id="{4ACE6D6F-98FE-4797-BC4C-6D71FC47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981" y="3070186"/>
            <a:ext cx="133744" cy="146129"/>
          </a:xfrm>
          <a:custGeom xmlns:a="http://schemas.openxmlformats.org/drawingml/2006/main">
            <a:pathLst>
              <a:path w="133744" h="146129">
                <a:moveTo>
                  <a:pt x="133744" y="73064"/>
                </a:moveTo>
                <a:lnTo>
                  <a:pt x="0" y="146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7" name="flow-operator-predicted">
            <a:extLst xmlns:a="http://schemas.openxmlformats.org/drawingml/2006/main">
              <a:ext uri="{FF2B5EF4-FFF2-40B4-BE49-F238E27FC236}">
                <a16:creationId xmlns:a16="http://schemas.microsoft.com/office/drawing/2014/main" id="{834A70FC-5567-4B8E-82EC-B49900E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352675"/>
            <a:ext cx="981075" cy="790575"/>
          </a:xfrm>
          <a:custGeom xmlns:a="http://schemas.openxmlformats.org/drawingml/2006/main">
            <a:pathLst>
              <a:path w="981075" h="790575">
                <a:moveTo>
                  <a:pt x="0" y="790575"/>
                </a:moveTo>
                <a:lnTo>
                  <a:pt x="704850" y="790575"/>
                </a:lnTo>
                <a:lnTo>
                  <a:pt x="704850" y="0"/>
                </a:lnTo>
                <a:lnTo>
                  <a:pt x="981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8" name="flow-operator-predicted-arrowhead">
            <a:extLst xmlns:a="http://schemas.openxmlformats.org/drawingml/2006/main">
              <a:ext uri="{FF2B5EF4-FFF2-40B4-BE49-F238E27FC236}">
                <a16:creationId xmlns:a16="http://schemas.microsoft.com/office/drawing/2014/main" id="{748A5313-1F84-4AA6-B753-4157DB5B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681" y="2279611"/>
            <a:ext cx="133744" cy="146129"/>
          </a:xfrm>
          <a:custGeom xmlns:a="http://schemas.openxmlformats.org/drawingml/2006/main">
            <a:pathLst>
              <a:path w="133744" h="146129">
                <a:moveTo>
                  <a:pt x="133744" y="73064"/>
                </a:moveTo>
                <a:lnTo>
                  <a:pt x="0" y="146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9" name="flow-predicted-loss">
            <a:extLst xmlns:a="http://schemas.openxmlformats.org/drawingml/2006/main">
              <a:ext uri="{FF2B5EF4-FFF2-40B4-BE49-F238E27FC236}">
                <a16:creationId xmlns:a16="http://schemas.microsoft.com/office/drawing/2014/main" id="{EB3A9292-E3C2-4FA9-A453-E644ADF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971800"/>
            <a:ext cx="9525" cy="409575"/>
          </a:xfrm>
          <a:custGeom xmlns:a="http://schemas.openxmlformats.org/drawingml/2006/main">
            <a:pathLst>
              <a:path w="9525" h="409575">
                <a:moveTo>
                  <a:pt x="0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0" name="flow-predicted-loss-arrowhead">
            <a:extLst xmlns:a="http://schemas.openxmlformats.org/drawingml/2006/main">
              <a:ext uri="{FF2B5EF4-FFF2-40B4-BE49-F238E27FC236}">
                <a16:creationId xmlns:a16="http://schemas.microsoft.com/office/drawing/2014/main" id="{EF7B67CC-153F-4CCF-AA8A-8041EF4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136" y="3247631"/>
            <a:ext cx="146129" cy="133744"/>
          </a:xfrm>
          <a:custGeom xmlns:a="http://schemas.openxmlformats.org/drawingml/2006/main">
            <a:pathLst>
              <a:path w="146129" h="133744">
                <a:moveTo>
                  <a:pt x="73064" y="133744"/>
                </a:moveTo>
                <a:lnTo>
                  <a:pt x="0" y="0"/>
                </a:lnTo>
                <a:lnTo>
                  <a:pt x="146129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11" name="flow-observed-loss">
            <a:extLst xmlns:a="http://schemas.openxmlformats.org/drawingml/2006/main">
              <a:ext uri="{FF2B5EF4-FFF2-40B4-BE49-F238E27FC236}">
                <a16:creationId xmlns:a16="http://schemas.microsoft.com/office/drawing/2014/main" id="{13E5FB21-A168-4A1E-9DF8-59B018B8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5529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2" name="flow-observed-loss-arrowhead">
            <a:extLst xmlns:a="http://schemas.openxmlformats.org/drawingml/2006/main">
              <a:ext uri="{FF2B5EF4-FFF2-40B4-BE49-F238E27FC236}">
                <a16:creationId xmlns:a16="http://schemas.microsoft.com/office/drawing/2014/main" id="{808B02E0-1D38-456F-A6EE-01A10B6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136" y="4552950"/>
            <a:ext cx="146129" cy="133744"/>
          </a:xfrm>
          <a:custGeom xmlns:a="http://schemas.openxmlformats.org/drawingml/2006/main">
            <a:pathLst>
              <a:path w="146129" h="133744">
                <a:moveTo>
                  <a:pt x="73064" y="0"/>
                </a:moveTo>
                <a:lnTo>
                  <a:pt x="146129" y="133744"/>
                </a:lnTo>
                <a:lnTo>
                  <a:pt x="0" y="133744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4763">
            <a:solidFill>
              <a:srgbClr val="0D2F6E"/>
            </a:solidFill>
            <a:prstDash val="solid"/>
          </a:ln>
        </p:spPr>
      </p:sp>
      <p:sp>
        <p:nvSpPr>
          <p:cNvPr id="13" name="feedback-optimize-generator">
            <a:extLst xmlns:a="http://schemas.openxmlformats.org/drawingml/2006/main">
              <a:ext uri="{FF2B5EF4-FFF2-40B4-BE49-F238E27FC236}">
                <a16:creationId xmlns:a16="http://schemas.microsoft.com/office/drawing/2014/main" id="{38AE2553-D518-4516-A2C0-E31045B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71925"/>
            <a:ext cx="8248650" cy="2390775"/>
          </a:xfrm>
          <a:custGeom xmlns:a="http://schemas.openxmlformats.org/drawingml/2006/main">
            <a:pathLst>
              <a:path w="8248650" h="2390775">
                <a:moveTo>
                  <a:pt x="8248650" y="0"/>
                </a:moveTo>
                <a:lnTo>
                  <a:pt x="7305675" y="0"/>
                </a:lnTo>
                <a:lnTo>
                  <a:pt x="7305675" y="2390775"/>
                </a:lnTo>
                <a:lnTo>
                  <a:pt x="0" y="2390775"/>
                </a:ln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A258C"/>
            </a:solidFill>
            <a:prstDash val="dash"/>
          </a:ln>
        </p:spPr>
      </p:sp>
      <p:sp>
        <p:nvSpPr>
          <p:cNvPr id="14" name="feedback-optimize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CB4CD385-76D7-4288-A12F-C53DA20A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36" y="4714875"/>
            <a:ext cx="146129" cy="133744"/>
          </a:xfrm>
          <a:custGeom xmlns:a="http://schemas.openxmlformats.org/drawingml/2006/main">
            <a:pathLst>
              <a:path w="146129" h="133744">
                <a:moveTo>
                  <a:pt x="73064" y="0"/>
                </a:moveTo>
                <a:lnTo>
                  <a:pt x="146129" y="133744"/>
                </a:lnTo>
                <a:lnTo>
                  <a:pt x="0" y="133744"/>
                </a:lnTo>
                <a:close/>
              </a:path>
            </a:pathLst>
          </a:custGeom>
          <a:solidFill xmlns:a="http://schemas.openxmlformats.org/drawingml/2006/main">
            <a:srgbClr val="5A258C"/>
          </a:solidFill>
          <a:ln xmlns:a="http://schemas.openxmlformats.org/drawingml/2006/main" w="4763">
            <a:solidFill>
              <a:srgbClr val="5A258C"/>
            </a:solidFill>
            <a:prstDash val="solid"/>
          </a:ln>
        </p:spPr>
      </p:sp>
      <p:sp>
        <p:nvSpPr>
          <p:cNvPr id="15" name="measurement-panel">
            <a:extLst xmlns:a="http://schemas.openxmlformats.org/drawingml/2006/main">
              <a:ext uri="{FF2B5EF4-FFF2-40B4-BE49-F238E27FC236}">
                <a16:creationId xmlns:a16="http://schemas.microsoft.com/office/drawing/2014/main" id="{8323FA86-0F39-4AE1-A1D2-17DB3C8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30480">
            <a:solidFill>
              <a:srgbClr val="5D8FC6"/>
            </a:solidFill>
            <a:prstDash val="dash"/>
          </a:ln>
        </p:spPr>
      </p:sp>
      <p:sp>
        <p:nvSpPr>
          <p:cNvPr id="16" name="noise-frame">
            <a:extLst xmlns:a="http://schemas.openxmlformats.org/drawingml/2006/main">
              <a:ext uri="{FF2B5EF4-FFF2-40B4-BE49-F238E27FC236}">
                <a16:creationId xmlns:a16="http://schemas.microsoft.com/office/drawing/2014/main" id="{973A05D9-DE60-4DBA-9E52-838EEDFB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7" name="generator-frame">
            <a:extLst xmlns:a="http://schemas.openxmlformats.org/drawingml/2006/main">
              <a:ext uri="{FF2B5EF4-FFF2-40B4-BE49-F238E27FC236}">
                <a16:creationId xmlns:a16="http://schemas.microsoft.com/office/drawing/2014/main" id="{4B482E95-9B72-4A69-AAA3-C8FA29EE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7F2FC"/>
          </a:solidFill>
          <a:ln xmlns:a="http://schemas.openxmlformats.org/drawingml/2006/main" w="32385">
            <a:solidFill>
              <a:srgbClr val="5A2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reconstruction-frame">
            <a:extLst xmlns:a="http://schemas.openxmlformats.org/drawingml/2006/main">
              <a:ext uri="{FF2B5EF4-FFF2-40B4-BE49-F238E27FC236}">
                <a16:creationId xmlns:a16="http://schemas.microsoft.com/office/drawing/2014/main" id="{F76B21E0-2BC9-4CDE-B9C6-31B6AC95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2385">
            <a:solidFill>
              <a:srgbClr val="0B6262"/>
            </a:solidFill>
            <a:prstDash val="solid"/>
          </a:ln>
        </p:spPr>
      </p:sp>
      <p:sp>
        <p:nvSpPr>
          <p:cNvPr id="19" name="operator-frame">
            <a:extLst xmlns:a="http://schemas.openxmlformats.org/drawingml/2006/main">
              <a:ext uri="{FF2B5EF4-FFF2-40B4-BE49-F238E27FC236}">
                <a16:creationId xmlns:a16="http://schemas.microsoft.com/office/drawing/2014/main" id="{C7DD7BA4-B496-4DA2-B1C2-0F80384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28575">
            <a:solidFill>
              <a:srgbClr val="C573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predicted-frame">
            <a:extLst xmlns:a="http://schemas.openxmlformats.org/drawingml/2006/main">
              <a:ext uri="{FF2B5EF4-FFF2-40B4-BE49-F238E27FC236}">
                <a16:creationId xmlns:a16="http://schemas.microsoft.com/office/drawing/2014/main" id="{B4C6B899-7124-41AA-BA42-B1B927DA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21" name="loss-node">
            <a:extLst xmlns:a="http://schemas.openxmlformats.org/drawingml/2006/main">
              <a:ext uri="{FF2B5EF4-FFF2-40B4-BE49-F238E27FC236}">
                <a16:creationId xmlns:a16="http://schemas.microsoft.com/office/drawing/2014/main" id="{C537DBAD-6FA0-41B6-A581-A6D5F98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22" name="observed-frame">
            <a:extLst xmlns:a="http://schemas.openxmlformats.org/drawingml/2006/main">
              <a:ext uri="{FF2B5EF4-FFF2-40B4-BE49-F238E27FC236}">
                <a16:creationId xmlns:a16="http://schemas.microsoft.com/office/drawing/2014/main" id="{73421062-5979-4DFB-8AD2-7D885A1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pic>
        <p:nvPicPr>
          <p:cNvPr id="104" name="noise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642f120a44a2b"/>
          <a:srcRect xmlns:a="http://schemas.openxmlformats.org/drawingml/2006/main" l="676" t="0" r="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2085975"/>
            <a:ext cx="2085975" cy="21145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pic>
        <p:nvPicPr>
          <p:cNvPr id="105" name="reconstruction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08ca480ca44b3"/>
          <a:srcRect xmlns:a="http://schemas.openxmlformats.org/drawingml/2006/main" l="0" t="224" r="0" b="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4325" y="2133600"/>
            <a:ext cx="2124075" cy="2162175"/>
          </a:xfrm>
          <a:prstGeom xmlns:a="http://schemas.openxmlformats.org/drawingml/2006/main" prst="roundRect">
            <a:avLst>
              <a:gd name="adj" fmla="val 4484"/>
            </a:avLst>
          </a:prstGeom>
        </p:spPr>
      </p:pic>
      <p:sp>
        <p:nvSpPr>
          <p:cNvPr id="25" name="encoder-1-top">
            <a:extLst xmlns:a="http://schemas.openxmlformats.org/drawingml/2006/main">
              <a:ext uri="{FF2B5EF4-FFF2-40B4-BE49-F238E27FC236}">
                <a16:creationId xmlns:a16="http://schemas.microsoft.com/office/drawing/2014/main" id="{0F6680D3-EEED-4A22-A84F-F39850A9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361950" cy="104775"/>
          </a:xfrm>
          <a:custGeom xmlns:a="http://schemas.openxmlformats.org/drawingml/2006/main">
            <a:pathLst>
              <a:path w="361950" h="104775">
                <a:moveTo>
                  <a:pt x="0" y="57150"/>
                </a:moveTo>
                <a:lnTo>
                  <a:pt x="95250" y="0"/>
                </a:lnTo>
                <a:lnTo>
                  <a:pt x="361950" y="47625"/>
                </a:lnTo>
                <a:lnTo>
                  <a:pt x="266700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26" name="encoder-1-side">
            <a:extLst xmlns:a="http://schemas.openxmlformats.org/drawingml/2006/main">
              <a:ext uri="{FF2B5EF4-FFF2-40B4-BE49-F238E27FC236}">
                <a16:creationId xmlns:a16="http://schemas.microsoft.com/office/drawing/2014/main" id="{7B204600-FCDA-47E1-9B3B-268C46C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62175"/>
            <a:ext cx="95250" cy="2114550"/>
          </a:xfrm>
          <a:custGeom xmlns:a="http://schemas.openxmlformats.org/drawingml/2006/main">
            <a:pathLst>
              <a:path w="95250" h="2114550">
                <a:moveTo>
                  <a:pt x="0" y="57150"/>
                </a:moveTo>
                <a:lnTo>
                  <a:pt x="95250" y="0"/>
                </a:lnTo>
                <a:lnTo>
                  <a:pt x="95250" y="205740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27" name="encoder-1-face">
            <a:extLst xmlns:a="http://schemas.openxmlformats.org/drawingml/2006/main">
              <a:ext uri="{FF2B5EF4-FFF2-40B4-BE49-F238E27FC236}">
                <a16:creationId xmlns:a16="http://schemas.microsoft.com/office/drawing/2014/main" id="{769A4EE9-2F3A-497D-9946-98E261B5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0"/>
                </a:moveTo>
                <a:lnTo>
                  <a:pt x="266700" y="47625"/>
                </a:lnTo>
                <a:lnTo>
                  <a:pt x="266700" y="2105025"/>
                </a:lnTo>
                <a:lnTo>
                  <a:pt x="0" y="21526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8" name="encoder-2-top">
            <a:extLst xmlns:a="http://schemas.openxmlformats.org/drawingml/2006/main">
              <a:ext uri="{FF2B5EF4-FFF2-40B4-BE49-F238E27FC236}">
                <a16:creationId xmlns:a16="http://schemas.microsoft.com/office/drawing/2014/main" id="{C41DB09D-F3A2-47B8-B351-1E90BEBF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81000" cy="104775"/>
          </a:xfrm>
          <a:custGeom xmlns:a="http://schemas.openxmlformats.org/drawingml/2006/main">
            <a:pathLst>
              <a:path w="381000" h="104775">
                <a:moveTo>
                  <a:pt x="0" y="57150"/>
                </a:moveTo>
                <a:lnTo>
                  <a:pt x="95250" y="0"/>
                </a:lnTo>
                <a:lnTo>
                  <a:pt x="381000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29" name="encoder-2-side">
            <a:extLst xmlns:a="http://schemas.openxmlformats.org/drawingml/2006/main">
              <a:ext uri="{FF2B5EF4-FFF2-40B4-BE49-F238E27FC236}">
                <a16:creationId xmlns:a16="http://schemas.microsoft.com/office/drawing/2014/main" id="{0783E4D3-8C8E-46C5-B300-17CCE2A4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14575"/>
            <a:ext cx="95250" cy="1809750"/>
          </a:xfrm>
          <a:custGeom xmlns:a="http://schemas.openxmlformats.org/drawingml/2006/main">
            <a:pathLst>
              <a:path w="95250" h="1809750">
                <a:moveTo>
                  <a:pt x="0" y="57150"/>
                </a:moveTo>
                <a:lnTo>
                  <a:pt x="95250" y="0"/>
                </a:lnTo>
                <a:lnTo>
                  <a:pt x="95250" y="1752600"/>
                </a:lnTo>
                <a:lnTo>
                  <a:pt x="0" y="18097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30" name="encoder-2-face">
            <a:extLst xmlns:a="http://schemas.openxmlformats.org/drawingml/2006/main">
              <a:ext uri="{FF2B5EF4-FFF2-40B4-BE49-F238E27FC236}">
                <a16:creationId xmlns:a16="http://schemas.microsoft.com/office/drawing/2014/main" id="{C2A68878-3D74-4FC9-97EE-09CA710E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0"/>
                </a:moveTo>
                <a:lnTo>
                  <a:pt x="285750" y="47625"/>
                </a:lnTo>
                <a:lnTo>
                  <a:pt x="285750" y="1800225"/>
                </a:lnTo>
                <a:lnTo>
                  <a:pt x="0" y="18478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1" name="encoder-3-top">
            <a:extLst xmlns:a="http://schemas.openxmlformats.org/drawingml/2006/main">
              <a:ext uri="{FF2B5EF4-FFF2-40B4-BE49-F238E27FC236}">
                <a16:creationId xmlns:a16="http://schemas.microsoft.com/office/drawing/2014/main" id="{EB96B3BB-D22E-41D7-860E-36F3F18A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390525" cy="104775"/>
          </a:xfrm>
          <a:custGeom xmlns:a="http://schemas.openxmlformats.org/drawingml/2006/main">
            <a:pathLst>
              <a:path w="390525" h="104775">
                <a:moveTo>
                  <a:pt x="0" y="57150"/>
                </a:moveTo>
                <a:lnTo>
                  <a:pt x="95250" y="0"/>
                </a:lnTo>
                <a:lnTo>
                  <a:pt x="390525" y="47625"/>
                </a:lnTo>
                <a:lnTo>
                  <a:pt x="295275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32" name="encoder-3-side">
            <a:extLst xmlns:a="http://schemas.openxmlformats.org/drawingml/2006/main">
              <a:ext uri="{FF2B5EF4-FFF2-40B4-BE49-F238E27FC236}">
                <a16:creationId xmlns:a16="http://schemas.microsoft.com/office/drawing/2014/main" id="{6B3B5B6C-1CA5-455F-B5C8-27985A42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95250" cy="1485900"/>
          </a:xfrm>
          <a:custGeom xmlns:a="http://schemas.openxmlformats.org/drawingml/2006/main">
            <a:pathLst>
              <a:path w="95250" h="1485900">
                <a:moveTo>
                  <a:pt x="0" y="57150"/>
                </a:moveTo>
                <a:lnTo>
                  <a:pt x="95250" y="0"/>
                </a:lnTo>
                <a:lnTo>
                  <a:pt x="95250" y="142875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33" name="encoder-3-face">
            <a:extLst xmlns:a="http://schemas.openxmlformats.org/drawingml/2006/main">
              <a:ext uri="{FF2B5EF4-FFF2-40B4-BE49-F238E27FC236}">
                <a16:creationId xmlns:a16="http://schemas.microsoft.com/office/drawing/2014/main" id="{235FA8A5-81A0-432D-9DF2-EAAA884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0"/>
                </a:moveTo>
                <a:lnTo>
                  <a:pt x="295275" y="47625"/>
                </a:lnTo>
                <a:lnTo>
                  <a:pt x="295275" y="1476375"/>
                </a:lnTo>
                <a:lnTo>
                  <a:pt x="0" y="1524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4" name="encoder-4-top">
            <a:extLst xmlns:a="http://schemas.openxmlformats.org/drawingml/2006/main">
              <a:ext uri="{FF2B5EF4-FFF2-40B4-BE49-F238E27FC236}">
                <a16:creationId xmlns:a16="http://schemas.microsoft.com/office/drawing/2014/main" id="{C0991D53-56E6-4BAB-810E-21CE640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381000" cy="104775"/>
          </a:xfrm>
          <a:custGeom xmlns:a="http://schemas.openxmlformats.org/drawingml/2006/main">
            <a:pathLst>
              <a:path w="381000" h="104775">
                <a:moveTo>
                  <a:pt x="0" y="57150"/>
                </a:moveTo>
                <a:lnTo>
                  <a:pt x="95250" y="0"/>
                </a:lnTo>
                <a:lnTo>
                  <a:pt x="381000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35" name="encoder-4-side">
            <a:extLst xmlns:a="http://schemas.openxmlformats.org/drawingml/2006/main">
              <a:ext uri="{FF2B5EF4-FFF2-40B4-BE49-F238E27FC236}">
                <a16:creationId xmlns:a16="http://schemas.microsoft.com/office/drawing/2014/main" id="{6C8C5162-271B-4C7F-BCC5-FB5D32B4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38425"/>
            <a:ext cx="95250" cy="1162050"/>
          </a:xfrm>
          <a:custGeom xmlns:a="http://schemas.openxmlformats.org/drawingml/2006/main">
            <a:pathLst>
              <a:path w="95250" h="1162050">
                <a:moveTo>
                  <a:pt x="0" y="57150"/>
                </a:moveTo>
                <a:lnTo>
                  <a:pt x="95250" y="0"/>
                </a:lnTo>
                <a:lnTo>
                  <a:pt x="95250" y="1104900"/>
                </a:lnTo>
                <a:lnTo>
                  <a:pt x="0" y="11620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36" name="encoder-4-face">
            <a:extLst xmlns:a="http://schemas.openxmlformats.org/drawingml/2006/main">
              <a:ext uri="{FF2B5EF4-FFF2-40B4-BE49-F238E27FC236}">
                <a16:creationId xmlns:a16="http://schemas.microsoft.com/office/drawing/2014/main" id="{DFBB3689-2842-4FCB-96BE-2AC9415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0"/>
                </a:moveTo>
                <a:lnTo>
                  <a:pt x="285750" y="47625"/>
                </a:lnTo>
                <a:lnTo>
                  <a:pt x="285750" y="1152525"/>
                </a:lnTo>
                <a:lnTo>
                  <a:pt x="0" y="12001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7" name="encoder-5-top">
            <a:extLst xmlns:a="http://schemas.openxmlformats.org/drawingml/2006/main">
              <a:ext uri="{FF2B5EF4-FFF2-40B4-BE49-F238E27FC236}">
                <a16:creationId xmlns:a16="http://schemas.microsoft.com/office/drawing/2014/main" id="{90585EED-54BE-47C8-BC03-599E95F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323850" cy="104775"/>
          </a:xfrm>
          <a:custGeom xmlns:a="http://schemas.openxmlformats.org/drawingml/2006/main">
            <a:pathLst>
              <a:path w="323850" h="104775">
                <a:moveTo>
                  <a:pt x="0" y="57150"/>
                </a:moveTo>
                <a:lnTo>
                  <a:pt x="95250" y="0"/>
                </a:lnTo>
                <a:lnTo>
                  <a:pt x="323850" y="47625"/>
                </a:lnTo>
                <a:lnTo>
                  <a:pt x="228600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38" name="encoder-5-side">
            <a:extLst xmlns:a="http://schemas.openxmlformats.org/drawingml/2006/main">
              <a:ext uri="{FF2B5EF4-FFF2-40B4-BE49-F238E27FC236}">
                <a16:creationId xmlns:a16="http://schemas.microsoft.com/office/drawing/2014/main" id="{5AD95B8B-5D85-4DF6-88D3-256A0251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9875"/>
            <a:ext cx="95250" cy="819150"/>
          </a:xfrm>
          <a:custGeom xmlns:a="http://schemas.openxmlformats.org/drawingml/2006/main">
            <a:pathLst>
              <a:path w="95250" h="819150">
                <a:moveTo>
                  <a:pt x="0" y="57150"/>
                </a:moveTo>
                <a:lnTo>
                  <a:pt x="95250" y="0"/>
                </a:lnTo>
                <a:lnTo>
                  <a:pt x="95250" y="76200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39" name="encoder-5-face">
            <a:extLst xmlns:a="http://schemas.openxmlformats.org/drawingml/2006/main">
              <a:ext uri="{FF2B5EF4-FFF2-40B4-BE49-F238E27FC236}">
                <a16:creationId xmlns:a16="http://schemas.microsoft.com/office/drawing/2014/main" id="{F2702662-2415-4AB7-BD06-1F3669EE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0"/>
                </a:moveTo>
                <a:lnTo>
                  <a:pt x="228600" y="47625"/>
                </a:lnTo>
                <a:lnTo>
                  <a:pt x="228600" y="809625"/>
                </a:lnTo>
                <a:lnTo>
                  <a:pt x="0" y="8572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0" name="bottleneck-top">
            <a:extLst xmlns:a="http://schemas.openxmlformats.org/drawingml/2006/main">
              <a:ext uri="{FF2B5EF4-FFF2-40B4-BE49-F238E27FC236}">
                <a16:creationId xmlns:a16="http://schemas.microsoft.com/office/drawing/2014/main" id="{83D6FB8C-1203-4671-8B3A-13D7623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33700"/>
            <a:ext cx="257175" cy="104775"/>
          </a:xfrm>
          <a:custGeom xmlns:a="http://schemas.openxmlformats.org/drawingml/2006/main">
            <a:pathLst>
              <a:path w="257175" h="104775">
                <a:moveTo>
                  <a:pt x="0" y="57150"/>
                </a:moveTo>
                <a:lnTo>
                  <a:pt x="95250" y="0"/>
                </a:lnTo>
                <a:lnTo>
                  <a:pt x="257175" y="47625"/>
                </a:lnTo>
                <a:lnTo>
                  <a:pt x="161925" y="104775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41" name="bottleneck-side">
            <a:extLst xmlns:a="http://schemas.openxmlformats.org/drawingml/2006/main">
              <a:ext uri="{FF2B5EF4-FFF2-40B4-BE49-F238E27FC236}">
                <a16:creationId xmlns:a16="http://schemas.microsoft.com/office/drawing/2014/main" id="{51A2E44F-FFA0-4718-8427-3DAD86E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81325"/>
            <a:ext cx="95250" cy="476250"/>
          </a:xfrm>
          <a:custGeom xmlns:a="http://schemas.openxmlformats.org/drawingml/2006/main">
            <a:pathLst>
              <a:path w="95250" h="476250">
                <a:moveTo>
                  <a:pt x="0" y="57150"/>
                </a:moveTo>
                <a:lnTo>
                  <a:pt x="95250" y="0"/>
                </a:lnTo>
                <a:lnTo>
                  <a:pt x="95250" y="41910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42" name="bottleneck-face">
            <a:extLst xmlns:a="http://schemas.openxmlformats.org/drawingml/2006/main">
              <a:ext uri="{FF2B5EF4-FFF2-40B4-BE49-F238E27FC236}">
                <a16:creationId xmlns:a16="http://schemas.microsoft.com/office/drawing/2014/main" id="{1A7FCED0-2953-4E84-B431-6108C40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61925" cy="514350"/>
          </a:xfrm>
          <a:custGeom xmlns:a="http://schemas.openxmlformats.org/drawingml/2006/main">
            <a:pathLst>
              <a:path w="161925" h="514350">
                <a:moveTo>
                  <a:pt x="0" y="0"/>
                </a:moveTo>
                <a:lnTo>
                  <a:pt x="161925" y="47625"/>
                </a:lnTo>
                <a:lnTo>
                  <a:pt x="161925" y="466725"/>
                </a:lnTo>
                <a:lnTo>
                  <a:pt x="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1080000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3" name="decoder-1-top">
            <a:extLst xmlns:a="http://schemas.openxmlformats.org/drawingml/2006/main">
              <a:ext uri="{FF2B5EF4-FFF2-40B4-BE49-F238E27FC236}">
                <a16:creationId xmlns:a16="http://schemas.microsoft.com/office/drawing/2014/main" id="{AAC62159-2E9C-4DC6-B94A-8E52D04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71775"/>
            <a:ext cx="323850" cy="95250"/>
          </a:xfrm>
          <a:custGeom xmlns:a="http://schemas.openxmlformats.org/drawingml/2006/main">
            <a:pathLst>
              <a:path w="323850" h="95250">
                <a:moveTo>
                  <a:pt x="0" y="47625"/>
                </a:moveTo>
                <a:lnTo>
                  <a:pt x="228600" y="0"/>
                </a:lnTo>
                <a:lnTo>
                  <a:pt x="323850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44" name="decoder-1-side">
            <a:extLst xmlns:a="http://schemas.openxmlformats.org/drawingml/2006/main">
              <a:ext uri="{FF2B5EF4-FFF2-40B4-BE49-F238E27FC236}">
                <a16:creationId xmlns:a16="http://schemas.microsoft.com/office/drawing/2014/main" id="{9D2F6855-115C-448B-ACA8-F7CD4E2B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19400"/>
            <a:ext cx="95250" cy="809625"/>
          </a:xfrm>
          <a:custGeom xmlns:a="http://schemas.openxmlformats.org/drawingml/2006/main">
            <a:pathLst>
              <a:path w="95250" h="809625">
                <a:moveTo>
                  <a:pt x="0" y="0"/>
                </a:moveTo>
                <a:lnTo>
                  <a:pt x="95250" y="47625"/>
                </a:lnTo>
                <a:lnTo>
                  <a:pt x="95250" y="809625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45" name="decoder-1-face">
            <a:extLst xmlns:a="http://schemas.openxmlformats.org/drawingml/2006/main">
              <a:ext uri="{FF2B5EF4-FFF2-40B4-BE49-F238E27FC236}">
                <a16:creationId xmlns:a16="http://schemas.microsoft.com/office/drawing/2014/main" id="{BF542F86-D948-418B-A5F8-4080D3A3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47625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096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6" name="decoder-2-top">
            <a:extLst xmlns:a="http://schemas.openxmlformats.org/drawingml/2006/main">
              <a:ext uri="{FF2B5EF4-FFF2-40B4-BE49-F238E27FC236}">
                <a16:creationId xmlns:a16="http://schemas.microsoft.com/office/drawing/2014/main" id="{5E2E1701-EE44-4D72-9AF4-BC73C9A9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0325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47625"/>
                </a:moveTo>
                <a:lnTo>
                  <a:pt x="285750" y="0"/>
                </a:lnTo>
                <a:lnTo>
                  <a:pt x="381000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47" name="decoder-2-side">
            <a:extLst xmlns:a="http://schemas.openxmlformats.org/drawingml/2006/main">
              <a:ext uri="{FF2B5EF4-FFF2-40B4-BE49-F238E27FC236}">
                <a16:creationId xmlns:a16="http://schemas.microsoft.com/office/drawing/2014/main" id="{C8C4C959-0141-4E27-9EDC-6268664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47950"/>
            <a:ext cx="95250" cy="1152525"/>
          </a:xfrm>
          <a:custGeom xmlns:a="http://schemas.openxmlformats.org/drawingml/2006/main">
            <a:pathLst>
              <a:path w="95250" h="1152525">
                <a:moveTo>
                  <a:pt x="0" y="0"/>
                </a:moveTo>
                <a:lnTo>
                  <a:pt x="95250" y="47625"/>
                </a:lnTo>
                <a:lnTo>
                  <a:pt x="95250" y="1152525"/>
                </a:lnTo>
                <a:lnTo>
                  <a:pt x="0" y="110490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48" name="decoder-2-face">
            <a:extLst xmlns:a="http://schemas.openxmlformats.org/drawingml/2006/main">
              <a:ext uri="{FF2B5EF4-FFF2-40B4-BE49-F238E27FC236}">
                <a16:creationId xmlns:a16="http://schemas.microsoft.com/office/drawing/2014/main" id="{F8DD1A5C-D02B-4E69-8816-50F599B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47625"/>
                </a:moveTo>
                <a:lnTo>
                  <a:pt x="285750" y="0"/>
                </a:lnTo>
                <a:lnTo>
                  <a:pt x="285750" y="1200150"/>
                </a:lnTo>
                <a:lnTo>
                  <a:pt x="0" y="11525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9" name="decoder-3-top">
            <a:extLst xmlns:a="http://schemas.openxmlformats.org/drawingml/2006/main">
              <a:ext uri="{FF2B5EF4-FFF2-40B4-BE49-F238E27FC236}">
                <a16:creationId xmlns:a16="http://schemas.microsoft.com/office/drawing/2014/main" id="{B738E0D4-E087-4CD2-AE60-533D3D26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390525" cy="95250"/>
          </a:xfrm>
          <a:custGeom xmlns:a="http://schemas.openxmlformats.org/drawingml/2006/main">
            <a:pathLst>
              <a:path w="390525" h="95250">
                <a:moveTo>
                  <a:pt x="0" y="47625"/>
                </a:moveTo>
                <a:lnTo>
                  <a:pt x="295275" y="0"/>
                </a:lnTo>
                <a:lnTo>
                  <a:pt x="390525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50" name="decoder-3-side">
            <a:extLst xmlns:a="http://schemas.openxmlformats.org/drawingml/2006/main">
              <a:ext uri="{FF2B5EF4-FFF2-40B4-BE49-F238E27FC236}">
                <a16:creationId xmlns:a16="http://schemas.microsoft.com/office/drawing/2014/main" id="{D70FBF82-BBDC-412A-B64D-6D5F894A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95250" cy="1476375"/>
          </a:xfrm>
          <a:custGeom xmlns:a="http://schemas.openxmlformats.org/drawingml/2006/main">
            <a:pathLst>
              <a:path w="95250" h="1476375">
                <a:moveTo>
                  <a:pt x="0" y="0"/>
                </a:moveTo>
                <a:lnTo>
                  <a:pt x="95250" y="47625"/>
                </a:lnTo>
                <a:lnTo>
                  <a:pt x="95250" y="1476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51" name="decoder-3-face">
            <a:extLst xmlns:a="http://schemas.openxmlformats.org/drawingml/2006/main">
              <a:ext uri="{FF2B5EF4-FFF2-40B4-BE49-F238E27FC236}">
                <a16:creationId xmlns:a16="http://schemas.microsoft.com/office/drawing/2014/main" id="{2FA1AB08-8C7F-4527-8E74-7D37CE9E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47625"/>
                </a:moveTo>
                <a:lnTo>
                  <a:pt x="295275" y="0"/>
                </a:lnTo>
                <a:lnTo>
                  <a:pt x="295275" y="1524000"/>
                </a:lnTo>
                <a:lnTo>
                  <a:pt x="0" y="14763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2" name="decoder-4-top">
            <a:extLst xmlns:a="http://schemas.openxmlformats.org/drawingml/2006/main">
              <a:ext uri="{FF2B5EF4-FFF2-40B4-BE49-F238E27FC236}">
                <a16:creationId xmlns:a16="http://schemas.microsoft.com/office/drawing/2014/main" id="{8A4E5F90-621E-4EB1-9EE6-10B3C17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76475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47625"/>
                </a:moveTo>
                <a:lnTo>
                  <a:pt x="285750" y="0"/>
                </a:lnTo>
                <a:lnTo>
                  <a:pt x="381000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53" name="decoder-4-side">
            <a:extLst xmlns:a="http://schemas.openxmlformats.org/drawingml/2006/main">
              <a:ext uri="{FF2B5EF4-FFF2-40B4-BE49-F238E27FC236}">
                <a16:creationId xmlns:a16="http://schemas.microsoft.com/office/drawing/2014/main" id="{113BA88C-B9A3-4A90-8277-8F78ED1E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24100"/>
            <a:ext cx="95250" cy="1800225"/>
          </a:xfrm>
          <a:custGeom xmlns:a="http://schemas.openxmlformats.org/drawingml/2006/main">
            <a:pathLst>
              <a:path w="95250" h="1800225">
                <a:moveTo>
                  <a:pt x="0" y="0"/>
                </a:moveTo>
                <a:lnTo>
                  <a:pt x="95250" y="47625"/>
                </a:lnTo>
                <a:lnTo>
                  <a:pt x="95250" y="1800225"/>
                </a:lnTo>
                <a:lnTo>
                  <a:pt x="0" y="175260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54" name="decoder-4-face">
            <a:extLst xmlns:a="http://schemas.openxmlformats.org/drawingml/2006/main">
              <a:ext uri="{FF2B5EF4-FFF2-40B4-BE49-F238E27FC236}">
                <a16:creationId xmlns:a16="http://schemas.microsoft.com/office/drawing/2014/main" id="{CCC74D34-D28D-4473-BB5F-925922C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47625"/>
                </a:moveTo>
                <a:lnTo>
                  <a:pt x="285750" y="0"/>
                </a:lnTo>
                <a:lnTo>
                  <a:pt x="285750" y="1847850"/>
                </a:lnTo>
                <a:lnTo>
                  <a:pt x="0" y="18002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5" name="decoder-5-top">
            <a:extLst xmlns:a="http://schemas.openxmlformats.org/drawingml/2006/main">
              <a:ext uri="{FF2B5EF4-FFF2-40B4-BE49-F238E27FC236}">
                <a16:creationId xmlns:a16="http://schemas.microsoft.com/office/drawing/2014/main" id="{BBA00F90-8BF2-4B1D-A9F4-6ECF2D2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24075"/>
            <a:ext cx="361950" cy="95250"/>
          </a:xfrm>
          <a:custGeom xmlns:a="http://schemas.openxmlformats.org/drawingml/2006/main">
            <a:pathLst>
              <a:path w="361950" h="95250">
                <a:moveTo>
                  <a:pt x="0" y="47625"/>
                </a:moveTo>
                <a:lnTo>
                  <a:pt x="266700" y="0"/>
                </a:lnTo>
                <a:lnTo>
                  <a:pt x="361950" y="47625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DAD8EC"/>
          </a:solidFill>
          <a:ln xmlns:a="http://schemas.openxmlformats.org/drawingml/2006/main" w="9525">
            <a:solidFill>
              <a:srgbClr val="7772A8"/>
            </a:solidFill>
            <a:prstDash val="solid"/>
          </a:ln>
        </p:spPr>
      </p:sp>
      <p:sp>
        <p:nvSpPr>
          <p:cNvPr id="56" name="decoder-5-side">
            <a:extLst xmlns:a="http://schemas.openxmlformats.org/drawingml/2006/main">
              <a:ext uri="{FF2B5EF4-FFF2-40B4-BE49-F238E27FC236}">
                <a16:creationId xmlns:a16="http://schemas.microsoft.com/office/drawing/2014/main" id="{6599A4D7-6D36-4E92-894D-E9762E1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71700"/>
            <a:ext cx="95250" cy="2105025"/>
          </a:xfrm>
          <a:custGeom xmlns:a="http://schemas.openxmlformats.org/drawingml/2006/main">
            <a:pathLst>
              <a:path w="95250" h="2105025">
                <a:moveTo>
                  <a:pt x="0" y="0"/>
                </a:moveTo>
                <a:lnTo>
                  <a:pt x="95250" y="47625"/>
                </a:lnTo>
                <a:lnTo>
                  <a:pt x="95250" y="2105025"/>
                </a:lnTo>
                <a:lnTo>
                  <a:pt x="0" y="2057400"/>
                </a:lnTo>
                <a:close/>
              </a:path>
            </a:pathLst>
          </a:custGeom>
          <a:solidFill xmlns:a="http://schemas.openxmlformats.org/drawingml/2006/main">
            <a:srgbClr val="8681B4"/>
          </a:solidFill>
          <a:ln xmlns:a="http://schemas.openxmlformats.org/drawingml/2006/main" w="9525">
            <a:solidFill>
              <a:srgbClr val="504A85"/>
            </a:solidFill>
            <a:prstDash val="solid"/>
          </a:ln>
        </p:spPr>
      </p:sp>
      <p:sp>
        <p:nvSpPr>
          <p:cNvPr id="57" name="decoder-5-face">
            <a:extLst xmlns:a="http://schemas.openxmlformats.org/drawingml/2006/main">
              <a:ext uri="{FF2B5EF4-FFF2-40B4-BE49-F238E27FC236}">
                <a16:creationId xmlns:a16="http://schemas.microsoft.com/office/drawing/2014/main" id="{E0D7361C-9944-44BE-8C69-80190508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47625"/>
                </a:moveTo>
                <a:lnTo>
                  <a:pt x="266700" y="0"/>
                </a:lnTo>
                <a:lnTo>
                  <a:pt x="266700" y="2152650"/>
                </a:lnTo>
                <a:lnTo>
                  <a:pt x="0" y="21050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4F4A87"/>
              </a:gs>
              <a:gs pos="100000">
                <a:srgbClr val="AAA7D1"/>
              </a:gs>
            </a:gsLst>
            <a:lin ang="0"/>
          </a:gradFill>
          <a:ln xmlns:a="http://schemas.openxmlformats.org/drawingml/2006/main" w="14288">
            <a:solidFill>
              <a:srgbClr val="3F3B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8" name="predicted-plot-grid-v-1">
            <a:extLst xmlns:a="http://schemas.openxmlformats.org/drawingml/2006/main">
              <a:ext uri="{FF2B5EF4-FFF2-40B4-BE49-F238E27FC236}">
                <a16:creationId xmlns:a16="http://schemas.microsoft.com/office/drawing/2014/main" id="{6C83FB60-DA68-4FF1-B4C0-BF1551C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360" y="1866900"/>
            <a:ext cx="9525" cy="971550"/>
          </a:xfrm>
          <a:custGeom xmlns:a="http://schemas.openxmlformats.org/drawingml/2006/main">
            <a:pathLst>
              <a:path w="9525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59" name="predicted-plot-grid-v-2">
            <a:extLst xmlns:a="http://schemas.openxmlformats.org/drawingml/2006/main">
              <a:ext uri="{FF2B5EF4-FFF2-40B4-BE49-F238E27FC236}">
                <a16:creationId xmlns:a16="http://schemas.microsoft.com/office/drawing/2014/main" id="{E0270EC6-5C04-424F-BA57-689C5BB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745" y="1866900"/>
            <a:ext cx="9525" cy="971550"/>
          </a:xfrm>
          <a:custGeom xmlns:a="http://schemas.openxmlformats.org/drawingml/2006/main">
            <a:pathLst>
              <a:path w="9525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0" name="predicted-plot-grid-v-3">
            <a:extLst xmlns:a="http://schemas.openxmlformats.org/drawingml/2006/main">
              <a:ext uri="{FF2B5EF4-FFF2-40B4-BE49-F238E27FC236}">
                <a16:creationId xmlns:a16="http://schemas.microsoft.com/office/drawing/2014/main" id="{01A597BF-A5B5-4653-8EEB-9D3622E1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130" y="1866900"/>
            <a:ext cx="9525" cy="971550"/>
          </a:xfrm>
          <a:custGeom xmlns:a="http://schemas.openxmlformats.org/drawingml/2006/main">
            <a:pathLst>
              <a:path w="9525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1" name="predicted-plot-grid-v-4">
            <a:extLst xmlns:a="http://schemas.openxmlformats.org/drawingml/2006/main">
              <a:ext uri="{FF2B5EF4-FFF2-40B4-BE49-F238E27FC236}">
                <a16:creationId xmlns:a16="http://schemas.microsoft.com/office/drawing/2014/main" id="{27254D38-CEE5-422A-98F6-CC1B564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515" y="1866900"/>
            <a:ext cx="9525" cy="971550"/>
          </a:xfrm>
          <a:custGeom xmlns:a="http://schemas.openxmlformats.org/drawingml/2006/main">
            <a:pathLst>
              <a:path w="9525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2" name="predicted-plot-grid-h-1">
            <a:extLst xmlns:a="http://schemas.openxmlformats.org/drawingml/2006/main">
              <a:ext uri="{FF2B5EF4-FFF2-40B4-BE49-F238E27FC236}">
                <a16:creationId xmlns:a16="http://schemas.microsoft.com/office/drawing/2014/main" id="{83B65985-62CE-4B52-9983-886E2E4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2190750"/>
            <a:ext cx="2066925" cy="9525"/>
          </a:xfrm>
          <a:custGeom xmlns:a="http://schemas.openxmlformats.org/drawingml/2006/main">
            <a:pathLst>
              <a:path w="2066925" h="9525">
                <a:moveTo>
                  <a:pt x="0" y="0"/>
                </a:moveTo>
                <a:lnTo>
                  <a:pt x="2066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3" name="predicted-plot-grid-h-2">
            <a:extLst xmlns:a="http://schemas.openxmlformats.org/drawingml/2006/main">
              <a:ext uri="{FF2B5EF4-FFF2-40B4-BE49-F238E27FC236}">
                <a16:creationId xmlns:a16="http://schemas.microsoft.com/office/drawing/2014/main" id="{AB3C5844-75F7-4932-AE1F-BE06D1C5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2514600"/>
            <a:ext cx="2066925" cy="9525"/>
          </a:xfrm>
          <a:custGeom xmlns:a="http://schemas.openxmlformats.org/drawingml/2006/main">
            <a:pathLst>
              <a:path w="2066925" h="9525">
                <a:moveTo>
                  <a:pt x="0" y="0"/>
                </a:moveTo>
                <a:lnTo>
                  <a:pt x="2066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4" name="predicted-plot-curve">
            <a:extLst xmlns:a="http://schemas.openxmlformats.org/drawingml/2006/main">
              <a:ext uri="{FF2B5EF4-FFF2-40B4-BE49-F238E27FC236}">
                <a16:creationId xmlns:a16="http://schemas.microsoft.com/office/drawing/2014/main" id="{FAFB4D59-5EFC-49F7-AB64-DDF60F5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866900"/>
            <a:ext cx="2066925" cy="971550"/>
          </a:xfrm>
          <a:custGeom xmlns:a="http://schemas.openxmlformats.org/drawingml/2006/main">
            <a:pathLst>
              <a:path w="2066925" h="971550">
                <a:moveTo>
                  <a:pt x="0" y="718408"/>
                </a:moveTo>
                <a:lnTo>
                  <a:pt x="17369" y="687000"/>
                </a:lnTo>
                <a:lnTo>
                  <a:pt x="34738" y="659887"/>
                </a:lnTo>
                <a:lnTo>
                  <a:pt x="52107" y="638497"/>
                </a:lnTo>
                <a:lnTo>
                  <a:pt x="69476" y="623872"/>
                </a:lnTo>
                <a:lnTo>
                  <a:pt x="86846" y="616604"/>
                </a:lnTo>
                <a:lnTo>
                  <a:pt x="104215" y="616800"/>
                </a:lnTo>
                <a:lnTo>
                  <a:pt x="121584" y="624078"/>
                </a:lnTo>
                <a:lnTo>
                  <a:pt x="138953" y="637596"/>
                </a:lnTo>
                <a:lnTo>
                  <a:pt x="156322" y="656121"/>
                </a:lnTo>
                <a:lnTo>
                  <a:pt x="173691" y="678111"/>
                </a:lnTo>
                <a:lnTo>
                  <a:pt x="191060" y="701828"/>
                </a:lnTo>
                <a:lnTo>
                  <a:pt x="208429" y="725458"/>
                </a:lnTo>
                <a:lnTo>
                  <a:pt x="225799" y="747240"/>
                </a:lnTo>
                <a:lnTo>
                  <a:pt x="243168" y="765579"/>
                </a:lnTo>
                <a:lnTo>
                  <a:pt x="260537" y="779164"/>
                </a:lnTo>
                <a:lnTo>
                  <a:pt x="277906" y="787044"/>
                </a:lnTo>
                <a:lnTo>
                  <a:pt x="295275" y="788690"/>
                </a:lnTo>
                <a:lnTo>
                  <a:pt x="312644" y="784023"/>
                </a:lnTo>
                <a:lnTo>
                  <a:pt x="330013" y="773404"/>
                </a:lnTo>
                <a:lnTo>
                  <a:pt x="347382" y="757591"/>
                </a:lnTo>
                <a:lnTo>
                  <a:pt x="364751" y="737673"/>
                </a:lnTo>
                <a:lnTo>
                  <a:pt x="382121" y="714965"/>
                </a:lnTo>
                <a:lnTo>
                  <a:pt x="399490" y="690898"/>
                </a:lnTo>
                <a:lnTo>
                  <a:pt x="416859" y="666888"/>
                </a:lnTo>
                <a:lnTo>
                  <a:pt x="434228" y="644217"/>
                </a:lnTo>
                <a:lnTo>
                  <a:pt x="451597" y="623910"/>
                </a:lnTo>
                <a:lnTo>
                  <a:pt x="468966" y="606648"/>
                </a:lnTo>
                <a:lnTo>
                  <a:pt x="486335" y="592692"/>
                </a:lnTo>
                <a:lnTo>
                  <a:pt x="503704" y="581859"/>
                </a:lnTo>
                <a:lnTo>
                  <a:pt x="521074" y="573521"/>
                </a:lnTo>
                <a:lnTo>
                  <a:pt x="538443" y="566659"/>
                </a:lnTo>
                <a:lnTo>
                  <a:pt x="555812" y="559940"/>
                </a:lnTo>
                <a:lnTo>
                  <a:pt x="573181" y="551837"/>
                </a:lnTo>
                <a:lnTo>
                  <a:pt x="590550" y="540767"/>
                </a:lnTo>
                <a:lnTo>
                  <a:pt x="607919" y="525245"/>
                </a:lnTo>
                <a:lnTo>
                  <a:pt x="625288" y="504030"/>
                </a:lnTo>
                <a:lnTo>
                  <a:pt x="642657" y="476267"/>
                </a:lnTo>
                <a:lnTo>
                  <a:pt x="660026" y="441596"/>
                </a:lnTo>
                <a:lnTo>
                  <a:pt x="677396" y="400227"/>
                </a:lnTo>
                <a:lnTo>
                  <a:pt x="694765" y="352973"/>
                </a:lnTo>
                <a:lnTo>
                  <a:pt x="712134" y="301224"/>
                </a:lnTo>
                <a:lnTo>
                  <a:pt x="729503" y="246889"/>
                </a:lnTo>
                <a:lnTo>
                  <a:pt x="746872" y="192282"/>
                </a:lnTo>
                <a:lnTo>
                  <a:pt x="764241" y="139978"/>
                </a:lnTo>
                <a:lnTo>
                  <a:pt x="781610" y="92645"/>
                </a:lnTo>
                <a:lnTo>
                  <a:pt x="798979" y="52868"/>
                </a:lnTo>
                <a:lnTo>
                  <a:pt x="816349" y="22977"/>
                </a:lnTo>
                <a:lnTo>
                  <a:pt x="833718" y="4893"/>
                </a:lnTo>
                <a:lnTo>
                  <a:pt x="851087" y="0"/>
                </a:lnTo>
                <a:lnTo>
                  <a:pt x="868456" y="9063"/>
                </a:lnTo>
                <a:lnTo>
                  <a:pt x="885825" y="32178"/>
                </a:lnTo>
                <a:lnTo>
                  <a:pt x="903194" y="68776"/>
                </a:lnTo>
                <a:lnTo>
                  <a:pt x="920563" y="117662"/>
                </a:lnTo>
                <a:lnTo>
                  <a:pt x="937932" y="177092"/>
                </a:lnTo>
                <a:lnTo>
                  <a:pt x="955301" y="244878"/>
                </a:lnTo>
                <a:lnTo>
                  <a:pt x="972671" y="318520"/>
                </a:lnTo>
                <a:lnTo>
                  <a:pt x="990040" y="395340"/>
                </a:lnTo>
                <a:lnTo>
                  <a:pt x="1007409" y="472625"/>
                </a:lnTo>
                <a:lnTo>
                  <a:pt x="1024778" y="547767"/>
                </a:lnTo>
                <a:lnTo>
                  <a:pt x="1042147" y="618381"/>
                </a:lnTo>
                <a:lnTo>
                  <a:pt x="1059516" y="682420"/>
                </a:lnTo>
                <a:lnTo>
                  <a:pt x="1076885" y="738257"/>
                </a:lnTo>
                <a:lnTo>
                  <a:pt x="1094254" y="784747"/>
                </a:lnTo>
                <a:lnTo>
                  <a:pt x="1111624" y="821262"/>
                </a:lnTo>
                <a:lnTo>
                  <a:pt x="1128993" y="847701"/>
                </a:lnTo>
                <a:lnTo>
                  <a:pt x="1146362" y="864467"/>
                </a:lnTo>
                <a:lnTo>
                  <a:pt x="1163731" y="872429"/>
                </a:lnTo>
                <a:lnTo>
                  <a:pt x="1181100" y="872851"/>
                </a:lnTo>
                <a:lnTo>
                  <a:pt x="1198469" y="867309"/>
                </a:lnTo>
                <a:lnTo>
                  <a:pt x="1215838" y="857584"/>
                </a:lnTo>
                <a:lnTo>
                  <a:pt x="1233207" y="845560"/>
                </a:lnTo>
                <a:lnTo>
                  <a:pt x="1250576" y="833099"/>
                </a:lnTo>
                <a:lnTo>
                  <a:pt x="1267946" y="821937"/>
                </a:lnTo>
                <a:lnTo>
                  <a:pt x="1285315" y="813573"/>
                </a:lnTo>
                <a:lnTo>
                  <a:pt x="1302684" y="809186"/>
                </a:lnTo>
                <a:lnTo>
                  <a:pt x="1320053" y="809566"/>
                </a:lnTo>
                <a:lnTo>
                  <a:pt x="1337422" y="815068"/>
                </a:lnTo>
                <a:lnTo>
                  <a:pt x="1354791" y="825600"/>
                </a:lnTo>
                <a:lnTo>
                  <a:pt x="1372160" y="840639"/>
                </a:lnTo>
                <a:lnTo>
                  <a:pt x="1389529" y="859270"/>
                </a:lnTo>
                <a:lnTo>
                  <a:pt x="1406899" y="880258"/>
                </a:lnTo>
                <a:lnTo>
                  <a:pt x="1424268" y="902139"/>
                </a:lnTo>
                <a:lnTo>
                  <a:pt x="1441637" y="923326"/>
                </a:lnTo>
                <a:lnTo>
                  <a:pt x="1459006" y="942226"/>
                </a:lnTo>
                <a:lnTo>
                  <a:pt x="1476375" y="957355"/>
                </a:lnTo>
                <a:lnTo>
                  <a:pt x="1493744" y="967447"/>
                </a:lnTo>
                <a:lnTo>
                  <a:pt x="1511113" y="971550"/>
                </a:lnTo>
                <a:lnTo>
                  <a:pt x="1528482" y="969097"/>
                </a:lnTo>
                <a:lnTo>
                  <a:pt x="1545851" y="959953"/>
                </a:lnTo>
                <a:lnTo>
                  <a:pt x="1563221" y="944427"/>
                </a:lnTo>
                <a:lnTo>
                  <a:pt x="1580590" y="923260"/>
                </a:lnTo>
                <a:lnTo>
                  <a:pt x="1597959" y="897574"/>
                </a:lnTo>
                <a:lnTo>
                  <a:pt x="1615328" y="868800"/>
                </a:lnTo>
                <a:lnTo>
                  <a:pt x="1632697" y="838577"/>
                </a:lnTo>
                <a:lnTo>
                  <a:pt x="1650066" y="808642"/>
                </a:lnTo>
                <a:lnTo>
                  <a:pt x="1667435" y="780710"/>
                </a:lnTo>
                <a:lnTo>
                  <a:pt x="1684804" y="756348"/>
                </a:lnTo>
                <a:lnTo>
                  <a:pt x="1702174" y="736873"/>
                </a:lnTo>
                <a:lnTo>
                  <a:pt x="1719543" y="723253"/>
                </a:lnTo>
                <a:lnTo>
                  <a:pt x="1736912" y="716040"/>
                </a:lnTo>
                <a:lnTo>
                  <a:pt x="1754281" y="715332"/>
                </a:lnTo>
                <a:lnTo>
                  <a:pt x="1771650" y="720761"/>
                </a:lnTo>
                <a:lnTo>
                  <a:pt x="1789019" y="731521"/>
                </a:lnTo>
                <a:lnTo>
                  <a:pt x="1806388" y="746425"/>
                </a:lnTo>
                <a:lnTo>
                  <a:pt x="1823757" y="763984"/>
                </a:lnTo>
                <a:lnTo>
                  <a:pt x="1841126" y="782517"/>
                </a:lnTo>
                <a:lnTo>
                  <a:pt x="1858496" y="800267"/>
                </a:lnTo>
                <a:lnTo>
                  <a:pt x="1875865" y="815529"/>
                </a:lnTo>
                <a:lnTo>
                  <a:pt x="1893234" y="826768"/>
                </a:lnTo>
                <a:lnTo>
                  <a:pt x="1910603" y="832734"/>
                </a:lnTo>
                <a:lnTo>
                  <a:pt x="1927972" y="832549"/>
                </a:lnTo>
                <a:lnTo>
                  <a:pt x="1945341" y="825778"/>
                </a:lnTo>
                <a:lnTo>
                  <a:pt x="1962710" y="812460"/>
                </a:lnTo>
                <a:lnTo>
                  <a:pt x="1980079" y="793113"/>
                </a:lnTo>
                <a:lnTo>
                  <a:pt x="1997449" y="768703"/>
                </a:lnTo>
                <a:lnTo>
                  <a:pt x="2014818" y="740578"/>
                </a:lnTo>
                <a:lnTo>
                  <a:pt x="2032187" y="710384"/>
                </a:lnTo>
                <a:lnTo>
                  <a:pt x="2049556" y="679952"/>
                </a:lnTo>
                <a:lnTo>
                  <a:pt x="2066925" y="651176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65" name="observed-plot-grid-v-1">
            <a:extLst xmlns:a="http://schemas.openxmlformats.org/drawingml/2006/main">
              <a:ext uri="{FF2B5EF4-FFF2-40B4-BE49-F238E27FC236}">
                <a16:creationId xmlns:a16="http://schemas.microsoft.com/office/drawing/2014/main" id="{C42B87DA-AEF9-4A56-B368-F288510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360" y="50673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6" name="observed-plot-grid-v-2">
            <a:extLst xmlns:a="http://schemas.openxmlformats.org/drawingml/2006/main">
              <a:ext uri="{FF2B5EF4-FFF2-40B4-BE49-F238E27FC236}">
                <a16:creationId xmlns:a16="http://schemas.microsoft.com/office/drawing/2014/main" id="{36720D9C-1643-463D-A4E5-EFDC7A42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745" y="50673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7" name="observed-plot-grid-v-3">
            <a:extLst xmlns:a="http://schemas.openxmlformats.org/drawingml/2006/main">
              <a:ext uri="{FF2B5EF4-FFF2-40B4-BE49-F238E27FC236}">
                <a16:creationId xmlns:a16="http://schemas.microsoft.com/office/drawing/2014/main" id="{84BCD73F-8CF6-48ED-9077-21DEBFD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130" y="50673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8" name="observed-plot-grid-v-4">
            <a:extLst xmlns:a="http://schemas.openxmlformats.org/drawingml/2006/main">
              <a:ext uri="{FF2B5EF4-FFF2-40B4-BE49-F238E27FC236}">
                <a16:creationId xmlns:a16="http://schemas.microsoft.com/office/drawing/2014/main" id="{0EB17881-7736-4C98-BEE5-336849F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515" y="5067300"/>
            <a:ext cx="9525" cy="952500"/>
          </a:xfrm>
          <a:custGeom xmlns:a="http://schemas.openxmlformats.org/drawingml/2006/main"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69" name="observed-plot-grid-h-1">
            <a:extLst xmlns:a="http://schemas.openxmlformats.org/drawingml/2006/main">
              <a:ext uri="{FF2B5EF4-FFF2-40B4-BE49-F238E27FC236}">
                <a16:creationId xmlns:a16="http://schemas.microsoft.com/office/drawing/2014/main" id="{4BF07989-5FE5-4523-AA5E-46C34BF0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5384800"/>
            <a:ext cx="2066925" cy="9525"/>
          </a:xfrm>
          <a:custGeom xmlns:a="http://schemas.openxmlformats.org/drawingml/2006/main">
            <a:pathLst>
              <a:path w="2066925" h="9525">
                <a:moveTo>
                  <a:pt x="0" y="0"/>
                </a:moveTo>
                <a:lnTo>
                  <a:pt x="2066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70" name="observed-plot-grid-h-2">
            <a:extLst xmlns:a="http://schemas.openxmlformats.org/drawingml/2006/main">
              <a:ext uri="{FF2B5EF4-FFF2-40B4-BE49-F238E27FC236}">
                <a16:creationId xmlns:a16="http://schemas.microsoft.com/office/drawing/2014/main" id="{A260ADEA-50E4-4DEF-9B09-7BE81EF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5702300"/>
            <a:ext cx="2066925" cy="9525"/>
          </a:xfrm>
          <a:custGeom xmlns:a="http://schemas.openxmlformats.org/drawingml/2006/main">
            <a:pathLst>
              <a:path w="2066925" h="9525">
                <a:moveTo>
                  <a:pt x="0" y="0"/>
                </a:moveTo>
                <a:lnTo>
                  <a:pt x="2066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7E0EC"/>
            </a:solidFill>
            <a:prstDash val="solid"/>
          </a:ln>
        </p:spPr>
      </p:sp>
      <p:sp>
        <p:nvSpPr>
          <p:cNvPr id="71" name="observed-plot-curve">
            <a:extLst xmlns:a="http://schemas.openxmlformats.org/drawingml/2006/main">
              <a:ext uri="{FF2B5EF4-FFF2-40B4-BE49-F238E27FC236}">
                <a16:creationId xmlns:a16="http://schemas.microsoft.com/office/drawing/2014/main" id="{D3AD5BB2-B139-491C-939E-84735A5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5067300"/>
            <a:ext cx="2066925" cy="952500"/>
          </a:xfrm>
          <a:custGeom xmlns:a="http://schemas.openxmlformats.org/drawingml/2006/main">
            <a:pathLst>
              <a:path w="2066925" h="952500">
                <a:moveTo>
                  <a:pt x="0" y="685921"/>
                </a:moveTo>
                <a:lnTo>
                  <a:pt x="17369" y="650885"/>
                </a:lnTo>
                <a:lnTo>
                  <a:pt x="34738" y="623177"/>
                </a:lnTo>
                <a:lnTo>
                  <a:pt x="52107" y="605815"/>
                </a:lnTo>
                <a:lnTo>
                  <a:pt x="69476" y="599247"/>
                </a:lnTo>
                <a:lnTo>
                  <a:pt x="86846" y="601513"/>
                </a:lnTo>
                <a:lnTo>
                  <a:pt x="104215" y="609336"/>
                </a:lnTo>
                <a:lnTo>
                  <a:pt x="121584" y="619640"/>
                </a:lnTo>
                <a:lnTo>
                  <a:pt x="138953" y="630805"/>
                </a:lnTo>
                <a:lnTo>
                  <a:pt x="156322" y="643098"/>
                </a:lnTo>
                <a:lnTo>
                  <a:pt x="173691" y="658117"/>
                </a:lnTo>
                <a:lnTo>
                  <a:pt x="191060" y="677520"/>
                </a:lnTo>
                <a:lnTo>
                  <a:pt x="208429" y="701654"/>
                </a:lnTo>
                <a:lnTo>
                  <a:pt x="225799" y="728758"/>
                </a:lnTo>
                <a:lnTo>
                  <a:pt x="243168" y="755132"/>
                </a:lnTo>
                <a:lnTo>
                  <a:pt x="260537" y="776245"/>
                </a:lnTo>
                <a:lnTo>
                  <a:pt x="277906" y="788318"/>
                </a:lnTo>
                <a:lnTo>
                  <a:pt x="295275" y="789689"/>
                </a:lnTo>
                <a:lnTo>
                  <a:pt x="312644" y="781375"/>
                </a:lnTo>
                <a:lnTo>
                  <a:pt x="330013" y="766564"/>
                </a:lnTo>
                <a:lnTo>
                  <a:pt x="347382" y="749295"/>
                </a:lnTo>
                <a:lnTo>
                  <a:pt x="364751" y="732880"/>
                </a:lnTo>
                <a:lnTo>
                  <a:pt x="382121" y="718777"/>
                </a:lnTo>
                <a:lnTo>
                  <a:pt x="399490" y="706380"/>
                </a:lnTo>
                <a:lnTo>
                  <a:pt x="416859" y="693795"/>
                </a:lnTo>
                <a:lnTo>
                  <a:pt x="434228" y="679181"/>
                </a:lnTo>
                <a:lnTo>
                  <a:pt x="451597" y="662033"/>
                </a:lnTo>
                <a:lnTo>
                  <a:pt x="468966" y="643763"/>
                </a:lnTo>
                <a:lnTo>
                  <a:pt x="486335" y="627295"/>
                </a:lnTo>
                <a:lnTo>
                  <a:pt x="503704" y="615822"/>
                </a:lnTo>
                <a:lnTo>
                  <a:pt x="521074" y="611282"/>
                </a:lnTo>
                <a:lnTo>
                  <a:pt x="538443" y="613242"/>
                </a:lnTo>
                <a:lnTo>
                  <a:pt x="555812" y="618708"/>
                </a:lnTo>
                <a:lnTo>
                  <a:pt x="573181" y="622974"/>
                </a:lnTo>
                <a:lnTo>
                  <a:pt x="590550" y="621171"/>
                </a:lnTo>
                <a:lnTo>
                  <a:pt x="607919" y="609857"/>
                </a:lnTo>
                <a:lnTo>
                  <a:pt x="625288" y="587981"/>
                </a:lnTo>
                <a:lnTo>
                  <a:pt x="642657" y="556854"/>
                </a:lnTo>
                <a:lnTo>
                  <a:pt x="660026" y="519172"/>
                </a:lnTo>
                <a:lnTo>
                  <a:pt x="677396" y="477596"/>
                </a:lnTo>
                <a:lnTo>
                  <a:pt x="694765" y="433563"/>
                </a:lnTo>
                <a:lnTo>
                  <a:pt x="712134" y="386872"/>
                </a:lnTo>
                <a:lnTo>
                  <a:pt x="729503" y="336258"/>
                </a:lnTo>
                <a:lnTo>
                  <a:pt x="746872" y="280654"/>
                </a:lnTo>
                <a:lnTo>
                  <a:pt x="764241" y="220553"/>
                </a:lnTo>
                <a:lnTo>
                  <a:pt x="781610" y="158799"/>
                </a:lnTo>
                <a:lnTo>
                  <a:pt x="798979" y="100381"/>
                </a:lnTo>
                <a:lnTo>
                  <a:pt x="816349" y="51277"/>
                </a:lnTo>
                <a:lnTo>
                  <a:pt x="833718" y="16778"/>
                </a:lnTo>
                <a:lnTo>
                  <a:pt x="851087" y="0"/>
                </a:lnTo>
                <a:lnTo>
                  <a:pt x="868456" y="1197"/>
                </a:lnTo>
                <a:lnTo>
                  <a:pt x="885825" y="18137"/>
                </a:lnTo>
                <a:lnTo>
                  <a:pt x="903194" y="47345"/>
                </a:lnTo>
                <a:lnTo>
                  <a:pt x="920563" y="85630"/>
                </a:lnTo>
                <a:lnTo>
                  <a:pt x="937932" y="131213"/>
                </a:lnTo>
                <a:lnTo>
                  <a:pt x="955301" y="183969"/>
                </a:lnTo>
                <a:lnTo>
                  <a:pt x="972671" y="244702"/>
                </a:lnTo>
                <a:lnTo>
                  <a:pt x="990040" y="313834"/>
                </a:lnTo>
                <a:lnTo>
                  <a:pt x="1007409" y="390157"/>
                </a:lnTo>
                <a:lnTo>
                  <a:pt x="1024778" y="470274"/>
                </a:lnTo>
                <a:lnTo>
                  <a:pt x="1042147" y="549037"/>
                </a:lnTo>
                <a:lnTo>
                  <a:pt x="1059516" y="620853"/>
                </a:lnTo>
                <a:lnTo>
                  <a:pt x="1076885" y="681297"/>
                </a:lnTo>
                <a:lnTo>
                  <a:pt x="1094254" y="728368"/>
                </a:lnTo>
                <a:lnTo>
                  <a:pt x="1111624" y="762821"/>
                </a:lnTo>
                <a:lnTo>
                  <a:pt x="1128993" y="787471"/>
                </a:lnTo>
                <a:lnTo>
                  <a:pt x="1146362" y="805768"/>
                </a:lnTo>
                <a:lnTo>
                  <a:pt x="1163731" y="820295"/>
                </a:lnTo>
                <a:lnTo>
                  <a:pt x="1181100" y="831848"/>
                </a:lnTo>
                <a:lnTo>
                  <a:pt x="1198469" y="839489"/>
                </a:lnTo>
                <a:lnTo>
                  <a:pt x="1215838" y="841516"/>
                </a:lnTo>
                <a:lnTo>
                  <a:pt x="1233207" y="836861"/>
                </a:lnTo>
                <a:lnTo>
                  <a:pt x="1250576" y="826254"/>
                </a:lnTo>
                <a:lnTo>
                  <a:pt x="1267946" y="812569"/>
                </a:lnTo>
                <a:lnTo>
                  <a:pt x="1285315" y="800154"/>
                </a:lnTo>
                <a:lnTo>
                  <a:pt x="1302684" y="793422"/>
                </a:lnTo>
                <a:lnTo>
                  <a:pt x="1320053" y="795284"/>
                </a:lnTo>
                <a:lnTo>
                  <a:pt x="1337422" y="806137"/>
                </a:lnTo>
                <a:lnTo>
                  <a:pt x="1354791" y="823828"/>
                </a:lnTo>
                <a:lnTo>
                  <a:pt x="1372160" y="844616"/>
                </a:lnTo>
                <a:lnTo>
                  <a:pt x="1389529" y="864700"/>
                </a:lnTo>
                <a:lnTo>
                  <a:pt x="1406899" y="881638"/>
                </a:lnTo>
                <a:lnTo>
                  <a:pt x="1424268" y="895031"/>
                </a:lnTo>
                <a:lnTo>
                  <a:pt x="1441637" y="906212"/>
                </a:lnTo>
                <a:lnTo>
                  <a:pt x="1459006" y="917093"/>
                </a:lnTo>
                <a:lnTo>
                  <a:pt x="1476375" y="928766"/>
                </a:lnTo>
                <a:lnTo>
                  <a:pt x="1493744" y="940497"/>
                </a:lnTo>
                <a:lnTo>
                  <a:pt x="1511113" y="949636"/>
                </a:lnTo>
                <a:lnTo>
                  <a:pt x="1528482" y="952500"/>
                </a:lnTo>
                <a:lnTo>
                  <a:pt x="1545851" y="945860"/>
                </a:lnTo>
                <a:lnTo>
                  <a:pt x="1563221" y="928371"/>
                </a:lnTo>
                <a:lnTo>
                  <a:pt x="1580590" y="901308"/>
                </a:lnTo>
                <a:lnTo>
                  <a:pt x="1597959" y="868263"/>
                </a:lnTo>
                <a:lnTo>
                  <a:pt x="1615328" y="833924"/>
                </a:lnTo>
                <a:lnTo>
                  <a:pt x="1632697" y="802466"/>
                </a:lnTo>
                <a:lnTo>
                  <a:pt x="1650066" y="776246"/>
                </a:lnTo>
                <a:lnTo>
                  <a:pt x="1667435" y="755357"/>
                </a:lnTo>
                <a:lnTo>
                  <a:pt x="1684804" y="738192"/>
                </a:lnTo>
                <a:lnTo>
                  <a:pt x="1702174" y="722736"/>
                </a:lnTo>
                <a:lnTo>
                  <a:pt x="1719543" y="707943"/>
                </a:lnTo>
                <a:lnTo>
                  <a:pt x="1736912" y="694563"/>
                </a:lnTo>
                <a:lnTo>
                  <a:pt x="1754281" y="685004"/>
                </a:lnTo>
                <a:lnTo>
                  <a:pt x="1771650" y="682281"/>
                </a:lnTo>
                <a:lnTo>
                  <a:pt x="1789019" y="688535"/>
                </a:lnTo>
                <a:lnTo>
                  <a:pt x="1806388" y="703790"/>
                </a:lnTo>
                <a:lnTo>
                  <a:pt x="1823757" y="725533"/>
                </a:lnTo>
                <a:lnTo>
                  <a:pt x="1841126" y="749344"/>
                </a:lnTo>
                <a:lnTo>
                  <a:pt x="1858496" y="770313"/>
                </a:lnTo>
                <a:lnTo>
                  <a:pt x="1875865" y="784663"/>
                </a:lnTo>
                <a:lnTo>
                  <a:pt x="1893234" y="790862"/>
                </a:lnTo>
                <a:lnTo>
                  <a:pt x="1910603" y="789791"/>
                </a:lnTo>
                <a:lnTo>
                  <a:pt x="1927972" y="783908"/>
                </a:lnTo>
                <a:lnTo>
                  <a:pt x="1945341" y="775829"/>
                </a:lnTo>
                <a:lnTo>
                  <a:pt x="1962710" y="766991"/>
                </a:lnTo>
                <a:lnTo>
                  <a:pt x="1980079" y="757012"/>
                </a:lnTo>
                <a:lnTo>
                  <a:pt x="1997449" y="744040"/>
                </a:lnTo>
                <a:lnTo>
                  <a:pt x="2014818" y="725925"/>
                </a:lnTo>
                <a:lnTo>
                  <a:pt x="2032187" y="701654"/>
                </a:lnTo>
                <a:lnTo>
                  <a:pt x="2049556" y="672377"/>
                </a:lnTo>
                <a:lnTo>
                  <a:pt x="2066925" y="64151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72" name="feedback-caption">
            <a:extLst xmlns:a="http://schemas.openxmlformats.org/drawingml/2006/main">
              <a:ext uri="{FF2B5EF4-FFF2-40B4-BE49-F238E27FC236}">
                <a16:creationId xmlns:a16="http://schemas.microsoft.com/office/drawing/2014/main" id="{8D6D989A-7A50-4F8F-9896-7FC08161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47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A258C"/>
                </a:solidFill>
              </a:defRPr>
            </a:pPr>
            <a:r>
              <a:rPr sz="1575" b="0" i="0">
                <a:solidFill>
                  <a:srgbClr val="5A258C"/>
                </a:solidFill>
              </a:rPr>
              <a:t>optimize θ</a:t>
            </a:r>
          </a:p>
        </p:txBody>
      </p:sp>
      <p:pic>
        <p:nvPicPr>
          <p:cNvPr id="154" name="eq-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8f3c4ab3a4f33">
            <a:extLst>
              <a:ext uri="{96DAC541-7B7A-43D3-8B79-37D633B846F1}">
                <asvg:svgBlip xmlns:asvg="http://schemas.microsoft.com/office/drawing/2016/SVG/main" r:embed="Raaec13d725b648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1381125"/>
            <a:ext cx="523875" cy="447675"/>
          </a:xfrm>
          <a:prstGeom xmlns:a="http://schemas.openxmlformats.org/drawingml/2006/main" prst="rect">
            <a:avLst/>
          </a:prstGeom>
        </p:spPr>
      </p:pic>
      <p:pic>
        <p:nvPicPr>
          <p:cNvPr id="155" name="eq-gen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7ef267fe14ac5">
            <a:extLst>
              <a:ext uri="{96DAC541-7B7A-43D3-8B79-37D633B846F1}">
                <asvg:svgBlip xmlns:asvg="http://schemas.microsoft.com/office/drawing/2016/SVG/main" r:embed="Rc50a0a5d7ff14e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1895475"/>
            <a:ext cx="742950" cy="523875"/>
          </a:xfrm>
          <a:prstGeom xmlns:a="http://schemas.openxmlformats.org/drawingml/2006/main" prst="rect">
            <a:avLst/>
          </a:prstGeom>
        </p:spPr>
      </p:pic>
      <p:pic>
        <p:nvPicPr>
          <p:cNvPr id="156" name="eq-x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99e031e674639">
            <a:extLst>
              <a:ext uri="{96DAC541-7B7A-43D3-8B79-37D633B846F1}">
                <asvg:svgBlip xmlns:asvg="http://schemas.microsoft.com/office/drawing/2016/SVG/main" r:embed="R102677d469c940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1381125"/>
            <a:ext cx="542925" cy="552450"/>
          </a:xfrm>
          <a:prstGeom xmlns:a="http://schemas.openxmlformats.org/drawingml/2006/main" prst="rect">
            <a:avLst/>
          </a:prstGeom>
        </p:spPr>
      </p:pic>
      <p:pic>
        <p:nvPicPr>
          <p:cNvPr id="157" name="eq-op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c8162ebc744b4">
            <a:extLst>
              <a:ext uri="{96DAC541-7B7A-43D3-8B79-37D633B846F1}">
                <asvg:svgBlip xmlns:asvg="http://schemas.microsoft.com/office/drawing/2016/SVG/main" r:embed="R7deb757c155e40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2876550"/>
            <a:ext cx="495300" cy="581025"/>
          </a:xfrm>
          <a:prstGeom xmlns:a="http://schemas.openxmlformats.org/drawingml/2006/main" prst="rect">
            <a:avLst/>
          </a:prstGeom>
        </p:spPr>
      </p:pic>
      <p:pic>
        <p:nvPicPr>
          <p:cNvPr id="158" name="eq-y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4de66e0ad48de">
            <a:extLst>
              <a:ext uri="{96DAC541-7B7A-43D3-8B79-37D633B846F1}">
                <asvg:svgBlip xmlns:asvg="http://schemas.microsoft.com/office/drawing/2016/SVG/main" r:embed="R97108e226c4f4e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877925" y="1104900"/>
            <a:ext cx="561975" cy="514350"/>
          </a:xfrm>
          <a:prstGeom xmlns:a="http://schemas.openxmlformats.org/drawingml/2006/main" prst="rect">
            <a:avLst/>
          </a:prstGeom>
        </p:spPr>
      </p:pic>
      <p:pic>
        <p:nvPicPr>
          <p:cNvPr id="159" name="eq-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38872d3b24334">
            <a:extLst>
              <a:ext uri="{96DAC541-7B7A-43D3-8B79-37D633B846F1}">
                <asvg:svgBlip xmlns:asvg="http://schemas.microsoft.com/office/drawing/2016/SVG/main" r:embed="R45334259c4ee4d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11275" y="6200775"/>
            <a:ext cx="333375" cy="457200"/>
          </a:xfrm>
          <a:prstGeom xmlns:a="http://schemas.openxmlformats.org/drawingml/2006/main" prst="rect">
            <a:avLst/>
          </a:prstGeom>
        </p:spPr>
      </p:pic>
      <p:pic>
        <p:nvPicPr>
          <p:cNvPr id="160" name="eq-los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fbfeb28fe4c5f">
            <a:extLst>
              <a:ext uri="{96DAC541-7B7A-43D3-8B79-37D633B846F1}">
                <asvg:svgBlip xmlns:asvg="http://schemas.microsoft.com/office/drawing/2016/SVG/main" r:embed="R8d9f5468013549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25525" y="3733800"/>
            <a:ext cx="895350" cy="371475"/>
          </a:xfrm>
          <a:prstGeom xmlns:a="http://schemas.openxmlformats.org/drawingml/2006/main" prst="rect">
            <a:avLst/>
          </a:prstGeom>
        </p:spPr>
      </p:pic>
      <p:pic>
        <p:nvPicPr>
          <p:cNvPr id="161" name="eq-objecti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3c1880be64eb6">
            <a:extLst>
              <a:ext uri="{96DAC541-7B7A-43D3-8B79-37D633B846F1}">
                <asvg:svgBlip xmlns:asvg="http://schemas.microsoft.com/office/drawing/2016/SVG/main" r:embed="R23bf3a4da57c4d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95625" y="7429500"/>
            <a:ext cx="6667500" cy="685800"/>
          </a:xfrm>
          <a:prstGeom xmlns:a="http://schemas.openxmlformats.org/drawingml/2006/main" prst="rect">
            <a:avLst/>
          </a:prstGeom>
        </p:spPr>
      </p:pic>
      <p:pic>
        <p:nvPicPr>
          <p:cNvPr id="162" name="eq-reconstruc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77868109646b1">
            <a:extLst>
              <a:ext uri="{96DAC541-7B7A-43D3-8B79-37D633B846F1}">
                <asvg:svgBlip xmlns:asvg="http://schemas.microsoft.com/office/drawing/2016/SVG/main" r:embed="R2ad064d067594f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7429500"/>
            <a:ext cx="2638425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18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1294" dir="4091915">
              <a:srgbClr val="3F2C60">
                <a:alpha val="10000"/>
              </a:srgbClr>
            </a:outerShdw>
          </a:effectLst>
        </a:effectStyle>
        <a:effectStyle>
          <a:effectLst>
            <a:outerShdw blurRad="95250" dist="42597" dir="3806097">
              <a:srgbClr val="7B4A00">
                <a:alpha val="10000"/>
              </a:srgbClr>
            </a:outerShdw>
          </a:effectLst>
        </a:effectStyle>
        <a:effectStyle>
          <a:effectLst>
            <a:outerShdw blurRad="85725" dist="42597" dir="3806097">
              <a:srgbClr val="312E5B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2026-08-27T16:23:21.4510000Z</dcterms:created>
  <dcterms:modified xsi:type="dcterms:W3CDTF">2026-08-27T16:23:21.4510000Z</dcterms:modified>
</coreProperties>
</file>